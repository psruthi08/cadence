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4f679aa4394163" /><Relationship Type="http://schemas.openxmlformats.org/officeDocument/2006/relationships/extended-properties" Target="/docProps/app.xml" Id="R093b74af1380446e" /><Relationship Type="http://schemas.openxmlformats.org/officeDocument/2006/relationships/officeDocument" Target="/ppt/presentation.xml" Id="R8eb502bf11174bb1" /></Relationships>
</file>

<file path=ppt/presentation.xml><?xml version="1.0" encoding="utf-8"?>
<p:presentation xmlns:p="http://schemas.openxmlformats.org/presentationml/2006/main">
  <p:sldMasterIdLst>
    <p:sldMasterId xmlns:r="http://schemas.openxmlformats.org/officeDocument/2006/relationships" id="2147483648" r:id="R6c2be2b71b7b4699"/>
  </p:sldMasterIdLst>
  <p:notesMasterIdLst>
    <p:notesMasterId xmlns:r="http://schemas.openxmlformats.org/officeDocument/2006/relationships" r:id="R77475e1510ba4f3e"/>
  </p:notesMasterIdLst>
  <p:sldIdLst>
    <p:sldId xmlns:r="http://schemas.openxmlformats.org/officeDocument/2006/relationships" id="256" r:id="Rd048a95933704b66"/>
    <p:sldId xmlns:r="http://schemas.openxmlformats.org/officeDocument/2006/relationships" id="257" r:id="Reae9bbf1042c4a2b"/>
    <p:sldId xmlns:r="http://schemas.openxmlformats.org/officeDocument/2006/relationships" id="258" r:id="R386d1526f9284fc9"/>
    <p:sldId xmlns:r="http://schemas.openxmlformats.org/officeDocument/2006/relationships" id="259" r:id="R6eb97fe86c7c4dcc"/>
    <p:sldId xmlns:r="http://schemas.openxmlformats.org/officeDocument/2006/relationships" id="260" r:id="R2ae94f8c3fe540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7034b377884ae6" /><Relationship Type="http://schemas.openxmlformats.org/officeDocument/2006/relationships/slideMaster" Target="/ppt/slideMasters/slideMaster1.xml" Id="R6c2be2b71b7b4699" /><Relationship Type="http://schemas.openxmlformats.org/officeDocument/2006/relationships/notesMaster" Target="/ppt/notesMasters/notesMaster1.xml" Id="R77475e1510ba4f3e" /><Relationship Type="http://schemas.openxmlformats.org/officeDocument/2006/relationships/presProps" Target="/ppt/presProps.xml" Id="R971e68a8831142ba" /><Relationship Type="http://schemas.openxmlformats.org/officeDocument/2006/relationships/tableStyles" Target="/ppt/tableStyles.xml" Id="R9992a19ea1404a37" /><Relationship Type="http://schemas.openxmlformats.org/officeDocument/2006/relationships/slide" Target="/ppt/slides/slide1.xml" Id="Rd048a95933704b66" /><Relationship Type="http://schemas.openxmlformats.org/officeDocument/2006/relationships/slide" Target="/ppt/slides/slide2.xml" Id="Reae9bbf1042c4a2b" /><Relationship Type="http://schemas.openxmlformats.org/officeDocument/2006/relationships/slide" Target="/ppt/slides/slide3.xml" Id="R386d1526f9284fc9" /><Relationship Type="http://schemas.openxmlformats.org/officeDocument/2006/relationships/slide" Target="/ppt/slides/slide4.xml" Id="R6eb97fe86c7c4dcc" /><Relationship Type="http://schemas.openxmlformats.org/officeDocument/2006/relationships/slide" Target="/ppt/slides/slide5.xml" Id="R2ae94f8c3fe540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c87641e71442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085f62f4994973" /><Relationship Type="http://schemas.openxmlformats.org/officeDocument/2006/relationships/notesMaster" Target="/ppt/notesMasters/notesMaster1.xml" Id="Rb8de8c9d9fac4a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6bebe52d714eb5" /><Relationship Type="http://schemas.openxmlformats.org/officeDocument/2006/relationships/notesMaster" Target="/ppt/notesMasters/notesMaster1.xml" Id="R43841ec168f94f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81dbbf443541dc" /><Relationship Type="http://schemas.openxmlformats.org/officeDocument/2006/relationships/notesMaster" Target="/ppt/notesMasters/notesMaster1.xml" Id="R514a25d3ccc249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d48b95d8384000" /><Relationship Type="http://schemas.openxmlformats.org/officeDocument/2006/relationships/notesMaster" Target="/ppt/notesMasters/notesMaster1.xml" Id="R4fbfdd90e18e45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e5e0a299db423a" /><Relationship Type="http://schemas.openxmlformats.org/officeDocument/2006/relationships/notesMaster" Target="/ppt/notesMasters/notesMaster1.xml" Id="Ra1bd6ab655754c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Introduce Cadence. Speakers often finish a rehearsal and hear “it was great,” but still do not know what to change. Cadence turns one rehearsal into specific feedback and a next practice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0:40–1:30. The first users are students and job seekers preparing for a specific speaking situation. A generic score is not enough; the feedback needs to show what the speaker did and what to try next. The product is designed around rehearsal, review, and another 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1:30–2:50. Live demo: open the deployed URL on a phone or laptop. First, record a short sample and submit it for analysis. Show the transcript, filler and pause labels, pacing and delivery scores, and one coaching recommendation. Second, open the coaching tab, play voice feedback or start a drill. If the deployment is not ready, use this slide to explain the exact flow without presenting a recorded clip as a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2:50–3:55. The browser records or uploads audio and calls an Express API. Gemini handles the analysis and coaching features. The server stores the resulting session analysis in Supabase Postgres; the database key stays on the server. The demo profile is currently a random ID in the browser, not a sign-in account. The recording itself is sent to Gemini for analysis and is not stored in Supabase.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3:55–5:00. The source typecheck and production build pass. Before the pitch, configure the Supabase schema and secrets, deploy, and test the two demo flows on a phone. The main lesson is that useful feedback must point to evidence and a next action. Close by opening the live URL and inviting the judges to try a sample. Do not claim that a live test passed until it has been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a9da7b2b2545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b91b6e00874583" /><Relationship Type="http://schemas.openxmlformats.org/officeDocument/2006/relationships/slideLayout" Target="/ppt/slideLayouts/slideLayout1.xml" Id="Rfb1ca92f29c442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1ca92f29c442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2698d17fad452f" /><Relationship Type="http://schemas.openxmlformats.org/officeDocument/2006/relationships/image" Target="/ppt/media/image.jpeg" Id="R2e4babaebfe04453" /><Relationship Type="http://schemas.openxmlformats.org/officeDocument/2006/relationships/notesSlide" Target="/ppt/notesSlides/notesSlide1.xml" Id="R62fc3d66082f45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a12942dd56404a" /><Relationship Type="http://schemas.openxmlformats.org/officeDocument/2006/relationships/image" Target="/ppt/media/image2.jpeg" Id="R6f8e6b36cb364548" /><Relationship Type="http://schemas.openxmlformats.org/officeDocument/2006/relationships/notesSlide" Target="/ppt/notesSlides/notesSlide2.xml" Id="Rdf7a3b9b6eb240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e00ef54d9a45ed" /><Relationship Type="http://schemas.openxmlformats.org/officeDocument/2006/relationships/image" Target="/ppt/media/image3.jpeg" Id="R8425e27033cb48f0" /><Relationship Type="http://schemas.openxmlformats.org/officeDocument/2006/relationships/notesSlide" Target="/ppt/notesSlides/notesSlide3.xml" Id="R4a8791501e714f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ee970a7a3b4143" /><Relationship Type="http://schemas.openxmlformats.org/officeDocument/2006/relationships/notesSlide" Target="/ppt/notesSlides/notesSlide4.xml" Id="R21e331df110048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ae3c26a8d64988" /><Relationship Type="http://schemas.openxmlformats.org/officeDocument/2006/relationships/notesSlide" Target="/ppt/notesSlides/notesSlide5.xml" Id="R1e87c2c337784b3b" /></Relationships>
</file>

<file path=ppt/slides/slide1.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e4babaebfe04453"/>
          <a:srcRect xmlns:a="http://schemas.openxmlformats.org/drawingml/2006/main" l="26163" t="0" r="26163" b="0"/>
          <a:stretch xmlns:a="http://schemas.openxmlformats.org/drawingml/2006/main">
            <a:fillRect l="0" t="0" r="0" b="0"/>
          </a:stretch>
        </p:blipFill>
        <p:spPr>
          <a:xfrm xmlns:a="http://schemas.openxmlformats.org/drawingml/2006/main">
            <a:off x="6334125" y="0"/>
            <a:ext cx="5857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534F03-FA46-4548-B7B0-C24B5E0A6491}"/>
              </a:ext>
            </a:extLst>
          </p:cNvPr>
          <p:cNvSpPr>
            <a:spLocks xmlns:a="http://schemas.openxmlformats.org/drawingml/2006/main" noGrp="1"/>
          </p:cNvSpPr>
          <p:nvPr/>
        </p:nvSpPr>
        <p:spPr>
          <a:xfrm xmlns:a="http://schemas.openxmlformats.org/drawingml/2006/main">
            <a:off x="666750" y="55245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E98232"/>
                </a:solidFill>
                <a:latin typeface="Arial"/>
                <a:ea typeface="Arial"/>
                <a:cs typeface="Arial"/>
              </a:defRPr>
            </a:pPr>
            <a:r>
              <a:rPr sz="1575" b="1">
                <a:solidFill>
                  <a:srgbClr val="E98232"/>
                </a:solidFill>
                <a:latin typeface="Arial"/>
                <a:ea typeface="Arial"/>
                <a:cs typeface="Arial"/>
              </a:rPr>
              <a:t>CADENCE</a:t>
            </a:r>
          </a:p>
        </p:txBody>
      </p:sp>
      <p:sp>
        <p:nvSpPr>
          <p:cNvPr id="3" name="">
            <a:extLst xmlns:a="http://schemas.openxmlformats.org/drawingml/2006/main">
              <a:ext uri="{FF2B5EF4-FFF2-40B4-BE49-F238E27FC236}">
                <a16:creationId xmlns:a16="http://schemas.microsoft.com/office/drawing/2014/main" id="{3DB11BA4-C4F7-42F9-82B0-C002ED39C382}"/>
              </a:ext>
            </a:extLst>
          </p:cNvPr>
          <p:cNvSpPr>
            <a:spLocks xmlns:a="http://schemas.openxmlformats.org/drawingml/2006/main" noGrp="1"/>
          </p:cNvSpPr>
          <p:nvPr/>
        </p:nvSpPr>
        <p:spPr>
          <a:xfrm xmlns:a="http://schemas.openxmlformats.org/drawingml/2006/main">
            <a:off x="666750" y="1619250"/>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Practice with</a:t>
            </a:r>
          </a:p>
          <a:p xmlns:a="http://schemas.openxmlformats.org/drawingml/2006/main">
            <a:pPr algn="l">
              <a:defRPr sz="4575" b="1">
                <a:solidFill>
                  <a:srgbClr val="FFFFFF"/>
                </a:solidFill>
                <a:latin typeface="Arial"/>
                <a:ea typeface="Arial"/>
                <a:cs typeface="Arial"/>
              </a:defRPr>
            </a:pPr>
            <a:r>
              <a:rPr sz="4575" b="1">
                <a:solidFill>
                  <a:srgbClr val="FFFFFF"/>
                </a:solidFill>
                <a:latin typeface="Arial"/>
                <a:ea typeface="Arial"/>
                <a:cs typeface="Arial"/>
              </a:rPr>
              <a:t>useful feedback.</a:t>
            </a:r>
          </a:p>
        </p:txBody>
      </p:sp>
      <p:sp>
        <p:nvSpPr>
          <p:cNvPr id="4" name="">
            <a:extLst xmlns:a="http://schemas.openxmlformats.org/drawingml/2006/main">
              <a:ext uri="{FF2B5EF4-FFF2-40B4-BE49-F238E27FC236}">
                <a16:creationId xmlns:a16="http://schemas.microsoft.com/office/drawing/2014/main" id="{CC5CEAD3-B4D3-4ABD-BD62-3BDD01D057F3}"/>
              </a:ext>
            </a:extLst>
          </p:cNvPr>
          <p:cNvSpPr>
            <a:spLocks xmlns:a="http://schemas.openxmlformats.org/drawingml/2006/main" noGrp="1"/>
          </p:cNvSpPr>
          <p:nvPr/>
        </p:nvSpPr>
        <p:spPr>
          <a:xfrm xmlns:a="http://schemas.openxmlformats.org/drawingml/2006/main">
            <a:off x="685800" y="371475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E2E4E7"/>
                </a:solidFill>
                <a:latin typeface="Arial"/>
                <a:ea typeface="Arial"/>
                <a:cs typeface="Arial"/>
              </a:defRPr>
            </a:pPr>
            <a:r>
              <a:rPr sz="2025" b="0">
                <a:solidFill>
                  <a:srgbClr val="E2E4E7"/>
                </a:solidFill>
                <a:latin typeface="Arial"/>
                <a:ea typeface="Arial"/>
                <a:cs typeface="Arial"/>
              </a:rPr>
              <a:t>A speech rehearsal coach for students and job seekers.</a:t>
            </a:r>
          </a:p>
        </p:txBody>
      </p:sp>
      <p:sp>
        <p:nvSpPr>
          <p:cNvPr id="5" name="">
            <a:extLst xmlns:a="http://schemas.openxmlformats.org/drawingml/2006/main">
              <a:ext uri="{FF2B5EF4-FFF2-40B4-BE49-F238E27FC236}">
                <a16:creationId xmlns:a16="http://schemas.microsoft.com/office/drawing/2014/main" id="{E44D424A-8836-4222-B6DF-1E6B71E788A1}"/>
              </a:ext>
            </a:extLst>
          </p:cNvPr>
          <p:cNvSpPr>
            <a:spLocks xmlns:a="http://schemas.openxmlformats.org/drawingml/2006/main" noGrp="1"/>
          </p:cNvSpPr>
          <p:nvPr/>
        </p:nvSpPr>
        <p:spPr>
          <a:xfrm xmlns:a="http://schemas.openxmlformats.org/drawingml/2006/main">
            <a:off x="685800" y="58578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C5C8CC"/>
                </a:solidFill>
                <a:latin typeface="Arial"/>
                <a:ea typeface="Arial"/>
                <a:cs typeface="Arial"/>
              </a:defRPr>
            </a:pPr>
            <a:r>
              <a:rPr sz="1350" b="0">
                <a:solidFill>
                  <a:srgbClr val="C5C8CC"/>
                </a:solidFill>
                <a:latin typeface="Arial"/>
                <a:ea typeface="Arial"/>
                <a:cs typeface="Arial"/>
              </a:rPr>
              <a:t>Five-minute project pitch  |  October 8, 2026</a:t>
            </a:r>
          </a:p>
        </p:txBody>
      </p:sp>
    </p:spTree>
    <p:extLst>
      <p:ext uri="{BB962C8B-B14F-4D97-AF65-F5344CB8AC3E}">
        <p14:creationId xmlns:p14="http://schemas.microsoft.com/office/powerpoint/2010/main" val="1531683422"/>
      </p:ext>
    </p:extLst>
  </p:cSld>
</p:sld>
</file>

<file path=ppt/slides/slide2.xml><?xml version="1.0" encoding="utf-8"?>
<p:sld xmlns:p="http://schemas.openxmlformats.org/presentationml/2006/main">
  <p:cSld>
    <p:bg>
      <p:bgPr>
        <a:solidFill xmlns:a="http://schemas.openxmlformats.org/drawingml/2006/main">
          <a:srgbClr val="F5F4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62AF45-1212-4983-AD93-86250E91D56C}"/>
              </a:ext>
            </a:extLst>
          </p:cNvPr>
          <p:cNvSpPr>
            <a:spLocks xmlns:a="http://schemas.openxmlformats.org/drawingml/2006/main" noGrp="1"/>
          </p:cNvSpPr>
          <p:nvPr/>
        </p:nvSpPr>
        <p:spPr>
          <a:xfrm xmlns:a="http://schemas.openxmlformats.org/drawingml/2006/main">
            <a:off x="647700" y="666750"/>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111317"/>
                </a:solidFill>
                <a:latin typeface="Arial"/>
                <a:ea typeface="Arial"/>
                <a:cs typeface="Arial"/>
              </a:defRPr>
            </a:pPr>
            <a:r>
              <a:rPr sz="3600" b="1">
                <a:solidFill>
                  <a:srgbClr val="111317"/>
                </a:solidFill>
                <a:latin typeface="Arial"/>
                <a:ea typeface="Arial"/>
                <a:cs typeface="Arial"/>
              </a:rPr>
              <a:t>“It was great” leaves</a:t>
            </a:r>
          </a:p>
          <a:p xmlns:a="http://schemas.openxmlformats.org/drawingml/2006/main">
            <a:pPr algn="l">
              <a:defRPr sz="3600" b="1">
                <a:solidFill>
                  <a:srgbClr val="111317"/>
                </a:solidFill>
                <a:latin typeface="Arial"/>
                <a:ea typeface="Arial"/>
                <a:cs typeface="Arial"/>
              </a:defRPr>
            </a:pPr>
            <a:r>
              <a:rPr sz="3600" b="1">
                <a:solidFill>
                  <a:srgbClr val="111317"/>
                </a:solidFill>
                <a:latin typeface="Arial"/>
                <a:ea typeface="Arial"/>
                <a:cs typeface="Arial"/>
              </a:rPr>
              <a:t>the speaker guessing.</a:t>
            </a:r>
          </a:p>
        </p:txBody>
      </p:sp>
      <p:sp>
        <p:nvSpPr>
          <p:cNvPr id="2" name="">
            <a:extLst xmlns:a="http://schemas.openxmlformats.org/drawingml/2006/main">
              <a:ext uri="{FF2B5EF4-FFF2-40B4-BE49-F238E27FC236}">
                <a16:creationId xmlns:a16="http://schemas.microsoft.com/office/drawing/2014/main" id="{D1B5E262-A936-48EB-8C4C-1788DD40B248}"/>
              </a:ext>
            </a:extLst>
          </p:cNvPr>
          <p:cNvSpPr>
            <a:spLocks xmlns:a="http://schemas.openxmlformats.org/drawingml/2006/main" noGrp="1"/>
          </p:cNvSpPr>
          <p:nvPr/>
        </p:nvSpPr>
        <p:spPr>
          <a:xfrm xmlns:a="http://schemas.openxmlformats.org/drawingml/2006/main">
            <a:off x="685800" y="238125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148"/>
          </a:bodyPr>
          <a:lstStyle xmlns:a="http://schemas.openxmlformats.org/drawingml/2006/main"/>
          <a:p xmlns:a="http://schemas.openxmlformats.org/drawingml/2006/main">
            <a:pPr algn="l">
              <a:defRPr sz="2025" b="0">
                <a:solidFill>
                  <a:srgbClr val="29313A"/>
                </a:solidFill>
                <a:latin typeface="Arial"/>
                <a:ea typeface="Arial"/>
                <a:cs typeface="Arial"/>
              </a:defRPr>
            </a:pPr>
            <a:r>
              <a:rPr sz="2025" b="0">
                <a:solidFill>
                  <a:srgbClr val="29313A"/>
                </a:solidFill>
                <a:latin typeface="Arial"/>
                <a:ea typeface="Arial"/>
                <a:cs typeface="Arial"/>
              </a:rPr>
              <a:t>Students and job seekers need specific feedback before a class talk, interview, research defense, or pitch.</a:t>
            </a:r>
          </a:p>
        </p:txBody>
      </p:sp>
      <p:sp>
        <p:nvSpPr>
          <p:cNvPr id="3" name="">
            <a:extLst xmlns:a="http://schemas.openxmlformats.org/drawingml/2006/main">
              <a:ext uri="{FF2B5EF4-FFF2-40B4-BE49-F238E27FC236}">
                <a16:creationId xmlns:a16="http://schemas.microsoft.com/office/drawing/2014/main" id="{595AF43E-78CF-424F-A5FF-4565F7F86F10}"/>
              </a:ext>
            </a:extLst>
          </p:cNvPr>
          <p:cNvSpPr>
            <a:spLocks xmlns:a="http://schemas.openxmlformats.org/drawingml/2006/main" noGrp="1"/>
          </p:cNvSpPr>
          <p:nvPr/>
        </p:nvSpPr>
        <p:spPr>
          <a:xfrm xmlns:a="http://schemas.openxmlformats.org/drawingml/2006/main">
            <a:off x="685800" y="3714750"/>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6A737C"/>
                </a:solidFill>
                <a:latin typeface="Arial"/>
                <a:ea typeface="Arial"/>
                <a:cs typeface="Arial"/>
              </a:defRPr>
            </a:pPr>
            <a:r>
              <a:rPr sz="1800" b="0">
                <a:solidFill>
                  <a:srgbClr val="6A737C"/>
                </a:solidFill>
                <a:latin typeface="Arial"/>
                <a:ea typeface="Arial"/>
                <a:cs typeface="Arial"/>
              </a:rPr>
              <a:t>Cadence points to delivery habits and gives the speaker a concrete way to practice them.</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f8e6b36cb364548"/>
          <a:srcRect xmlns:a="http://schemas.openxmlformats.org/drawingml/2006/main" l="8140" t="0" r="8140" b="0"/>
          <a:stretch xmlns:a="http://schemas.openxmlformats.org/drawingml/2006/main">
            <a:fillRect l="0" t="0" r="0" b="0"/>
          </a:stretch>
        </p:blipFill>
        <p:spPr>
          <a:xfrm xmlns:a="http://schemas.openxmlformats.org/drawingml/2006/main">
            <a:off x="6286500" y="2000250"/>
            <a:ext cx="5143500"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6080C27-2AB4-4901-9A30-26B5651C5EDD}"/>
              </a:ext>
            </a:extLst>
          </p:cNvPr>
          <p:cNvSpPr>
            <a:spLocks xmlns:a="http://schemas.openxmlformats.org/drawingml/2006/main" noGrp="1"/>
          </p:cNvSpPr>
          <p:nvPr/>
        </p:nvSpPr>
        <p:spPr>
          <a:xfrm xmlns:a="http://schemas.openxmlformats.org/drawingml/2006/main">
            <a:off x="685800" y="561975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E98232"/>
                </a:solidFill>
                <a:latin typeface="Arial"/>
                <a:ea typeface="Arial"/>
                <a:cs typeface="Arial"/>
              </a:defRPr>
            </a:pPr>
            <a:r>
              <a:rPr sz="1950" b="1">
                <a:solidFill>
                  <a:srgbClr val="E98232"/>
                </a:solidFill>
                <a:latin typeface="Arial"/>
                <a:ea typeface="Arial"/>
                <a:cs typeface="Arial"/>
              </a:rPr>
              <a:t>The goal is a clearer next attempt, not a generic score.</a:t>
            </a:r>
          </a:p>
        </p:txBody>
      </p:sp>
    </p:spTree>
    <p:extLst>
      <p:ext uri="{BB962C8B-B14F-4D97-AF65-F5344CB8AC3E}">
        <p14:creationId xmlns:p14="http://schemas.microsoft.com/office/powerpoint/2010/main" val="354105105"/>
      </p:ext>
    </p:extLst>
  </p:cSld>
</p:sld>
</file>

<file path=ppt/slides/slide3.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D0271E-4FB7-4B69-BDE3-B04658B0BB84}"/>
              </a:ext>
            </a:extLst>
          </p:cNvPr>
          <p:cNvSpPr>
            <a:spLocks xmlns:a="http://schemas.openxmlformats.org/drawingml/2006/main" noGrp="1"/>
          </p:cNvSpPr>
          <p:nvPr/>
        </p:nvSpPr>
        <p:spPr>
          <a:xfrm xmlns:a="http://schemas.openxmlformats.org/drawingml/2006/main">
            <a:off x="647700" y="552450"/>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One rehearsal.</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Three useful outputs.</a:t>
            </a:r>
          </a:p>
        </p:txBody>
      </p:sp>
      <p:sp>
        <p:nvSpPr>
          <p:cNvPr id="2" name="">
            <a:extLst xmlns:a="http://schemas.openxmlformats.org/drawingml/2006/main">
              <a:ext uri="{FF2B5EF4-FFF2-40B4-BE49-F238E27FC236}">
                <a16:creationId xmlns:a16="http://schemas.microsoft.com/office/drawing/2014/main" id="{6E44C731-B444-4E58-8B58-18980C6D6C93}"/>
              </a:ext>
            </a:extLst>
          </p:cNvPr>
          <p:cNvSpPr>
            <a:spLocks xmlns:a="http://schemas.openxmlformats.org/drawingml/2006/main" noGrp="1"/>
          </p:cNvSpPr>
          <p:nvPr/>
        </p:nvSpPr>
        <p:spPr>
          <a:xfrm xmlns:a="http://schemas.openxmlformats.org/drawingml/2006/main">
            <a:off x="685800" y="22383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01  Record or upload a short talk</a:t>
            </a:r>
          </a:p>
        </p:txBody>
      </p:sp>
      <p:sp>
        <p:nvSpPr>
          <p:cNvPr id="3" name="">
            <a:extLst xmlns:a="http://schemas.openxmlformats.org/drawingml/2006/main">
              <a:ext uri="{FF2B5EF4-FFF2-40B4-BE49-F238E27FC236}">
                <a16:creationId xmlns:a16="http://schemas.microsoft.com/office/drawing/2014/main" id="{E2DBC5E3-060E-4963-B8FB-5578EE74D123}"/>
              </a:ext>
            </a:extLst>
          </p:cNvPr>
          <p:cNvSpPr>
            <a:spLocks xmlns:a="http://schemas.openxmlformats.org/drawingml/2006/main" noGrp="1"/>
          </p:cNvSpPr>
          <p:nvPr/>
        </p:nvSpPr>
        <p:spPr>
          <a:xfrm xmlns:a="http://schemas.openxmlformats.org/drawingml/2006/main">
            <a:off x="685800" y="31432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02  Review the transcript and delivery metrics</a:t>
            </a:r>
          </a:p>
        </p:txBody>
      </p:sp>
      <p:sp>
        <p:nvSpPr>
          <p:cNvPr id="4" name="">
            <a:extLst xmlns:a="http://schemas.openxmlformats.org/drawingml/2006/main">
              <a:ext uri="{FF2B5EF4-FFF2-40B4-BE49-F238E27FC236}">
                <a16:creationId xmlns:a16="http://schemas.microsoft.com/office/drawing/2014/main" id="{B09CC4DE-C0B1-4305-AC93-36F8F53FA633}"/>
              </a:ext>
            </a:extLst>
          </p:cNvPr>
          <p:cNvSpPr>
            <a:spLocks xmlns:a="http://schemas.openxmlformats.org/drawingml/2006/main" noGrp="1"/>
          </p:cNvSpPr>
          <p:nvPr/>
        </p:nvSpPr>
        <p:spPr>
          <a:xfrm xmlns:a="http://schemas.openxmlformats.org/drawingml/2006/main">
            <a:off x="685800" y="40481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03  Open coaching, then try a targeted drill</a:t>
            </a:r>
          </a:p>
        </p:txBody>
      </p:sp>
      <p:sp>
        <p:nvSpPr>
          <p:cNvPr id="5" name="">
            <a:extLst xmlns:a="http://schemas.openxmlformats.org/drawingml/2006/main">
              <a:ext uri="{FF2B5EF4-FFF2-40B4-BE49-F238E27FC236}">
                <a16:creationId xmlns:a16="http://schemas.microsoft.com/office/drawing/2014/main" id="{781C00DA-CC86-4379-B7DF-F6AA6627D086}"/>
              </a:ext>
            </a:extLst>
          </p:cNvPr>
          <p:cNvSpPr>
            <a:spLocks xmlns:a="http://schemas.openxmlformats.org/drawingml/2006/main" noGrp="1"/>
          </p:cNvSpPr>
          <p:nvPr/>
        </p:nvSpPr>
        <p:spPr>
          <a:xfrm xmlns:a="http://schemas.openxmlformats.org/drawingml/2006/main">
            <a:off x="685800" y="5619750"/>
            <a:ext cx="561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12"/>
          </a:bodyPr>
          <a:lstStyle xmlns:a="http://schemas.openxmlformats.org/drawingml/2006/main"/>
          <a:p xmlns:a="http://schemas.openxmlformats.org/drawingml/2006/main">
            <a:pPr algn="l">
              <a:defRPr sz="1650" b="0">
                <a:solidFill>
                  <a:srgbClr val="E98232"/>
                </a:solidFill>
                <a:latin typeface="Arial"/>
                <a:ea typeface="Arial"/>
                <a:cs typeface="Arial"/>
              </a:defRPr>
            </a:pPr>
            <a:r>
              <a:rPr sz="1650" b="0">
                <a:solidFill>
                  <a:srgbClr val="E98232"/>
                </a:solidFill>
                <a:latin typeface="Arial"/>
                <a:ea typeface="Arial"/>
                <a:cs typeface="Arial"/>
              </a:rPr>
              <a:t>Live URL: add after deployment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425e27033cb48f0"/>
          <a:srcRect xmlns:a="http://schemas.openxmlformats.org/drawingml/2006/main" l="8333" t="0" r="8333" b="0"/>
          <a:stretch xmlns:a="http://schemas.openxmlformats.org/drawingml/2006/main">
            <a:fillRect l="0" t="0" r="0" b="0"/>
          </a:stretch>
        </p:blipFill>
        <p:spPr>
          <a:xfrm xmlns:a="http://schemas.openxmlformats.org/drawingml/2006/main">
            <a:off x="8334375" y="1428750"/>
            <a:ext cx="28575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A4D8A8D-7D72-4BE4-871C-9C805657E069}"/>
              </a:ext>
            </a:extLst>
          </p:cNvPr>
          <p:cNvSpPr>
            <a:spLocks xmlns:a="http://schemas.openxmlformats.org/drawingml/2006/main" noGrp="1"/>
          </p:cNvSpPr>
          <p:nvPr/>
        </p:nvSpPr>
        <p:spPr>
          <a:xfrm xmlns:a="http://schemas.openxmlformats.org/drawingml/2006/main">
            <a:off x="685800" y="490537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CDD1D5"/>
                </a:solidFill>
                <a:latin typeface="Arial"/>
                <a:ea typeface="Arial"/>
                <a:cs typeface="Arial"/>
              </a:defRPr>
            </a:pPr>
            <a:r>
              <a:rPr sz="1650" b="0">
                <a:solidFill>
                  <a:srgbClr val="CDD1D5"/>
                </a:solidFill>
                <a:latin typeface="Arial"/>
                <a:ea typeface="Arial"/>
                <a:cs typeface="Arial"/>
              </a:rPr>
              <a:t>Transcript  •  Metrics  •  Practice plan</a:t>
            </a:r>
          </a:p>
        </p:txBody>
      </p:sp>
    </p:spTree>
    <p:extLst>
      <p:ext uri="{BB962C8B-B14F-4D97-AF65-F5344CB8AC3E}">
        <p14:creationId xmlns:p14="http://schemas.microsoft.com/office/powerpoint/2010/main" val="1945280378"/>
      </p:ext>
    </p:extLst>
  </p:cSld>
</p:sld>
</file>

<file path=ppt/slides/slide4.xml><?xml version="1.0" encoding="utf-8"?>
<p:sld xmlns:p="http://schemas.openxmlformats.org/presentationml/2006/main">
  <p:cSld>
    <p:bg>
      <p:bgPr>
        <a:solidFill xmlns:a="http://schemas.openxmlformats.org/drawingml/2006/main">
          <a:srgbClr val="F5F4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235084-24F6-4ED6-866A-FEA6B9C8CFDD}"/>
              </a:ext>
            </a:extLst>
          </p:cNvPr>
          <p:cNvSpPr>
            <a:spLocks xmlns:a="http://schemas.openxmlformats.org/drawingml/2006/main" noGrp="1"/>
          </p:cNvSpPr>
          <p:nvPr/>
        </p:nvSpPr>
        <p:spPr>
          <a:xfrm xmlns:a="http://schemas.openxmlformats.org/drawingml/2006/main">
            <a:off x="647700" y="495300"/>
            <a:ext cx="952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111317"/>
                </a:solidFill>
                <a:latin typeface="Arial"/>
                <a:ea typeface="Arial"/>
                <a:cs typeface="Arial"/>
              </a:defRPr>
            </a:pPr>
            <a:r>
              <a:rPr sz="3600" b="1">
                <a:solidFill>
                  <a:srgbClr val="111317"/>
                </a:solidFill>
                <a:latin typeface="Arial"/>
                <a:ea typeface="Arial"/>
                <a:cs typeface="Arial"/>
              </a:rPr>
              <a:t>A small full-stack loop</a:t>
            </a:r>
          </a:p>
        </p:txBody>
      </p:sp>
      <p:sp>
        <p:nvSpPr>
          <p:cNvPr id="2" name="">
            <a:extLst xmlns:a="http://schemas.openxmlformats.org/drawingml/2006/main">
              <a:ext uri="{FF2B5EF4-FFF2-40B4-BE49-F238E27FC236}">
                <a16:creationId xmlns:a16="http://schemas.microsoft.com/office/drawing/2014/main" id="{F528A408-0FB1-4510-89A5-7D45C82AD139}"/>
              </a:ext>
            </a:extLst>
          </p:cNvPr>
          <p:cNvSpPr>
            <a:spLocks xmlns:a="http://schemas.openxmlformats.org/drawingml/2006/main" noGrp="1"/>
          </p:cNvSpPr>
          <p:nvPr/>
        </p:nvSpPr>
        <p:spPr>
          <a:xfrm xmlns:a="http://schemas.openxmlformats.org/drawingml/2006/main">
            <a:off x="685800" y="19526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E98232"/>
                </a:solidFill>
                <a:latin typeface="Arial"/>
                <a:ea typeface="Arial"/>
                <a:cs typeface="Arial"/>
              </a:defRPr>
            </a:pPr>
            <a:r>
              <a:rPr sz="1875" b="1">
                <a:solidFill>
                  <a:srgbClr val="E98232"/>
                </a:solidFill>
                <a:latin typeface="Arial"/>
                <a:ea typeface="Arial"/>
                <a:cs typeface="Arial"/>
              </a:rPr>
              <a:t>BROWSER</a:t>
            </a:r>
          </a:p>
        </p:txBody>
      </p:sp>
      <p:sp>
        <p:nvSpPr>
          <p:cNvPr id="3" name="">
            <a:extLst xmlns:a="http://schemas.openxmlformats.org/drawingml/2006/main">
              <a:ext uri="{FF2B5EF4-FFF2-40B4-BE49-F238E27FC236}">
                <a16:creationId xmlns:a16="http://schemas.microsoft.com/office/drawing/2014/main" id="{EE017887-684A-460D-8878-024F4B170D0C}"/>
              </a:ext>
            </a:extLst>
          </p:cNvPr>
          <p:cNvSpPr>
            <a:spLocks xmlns:a="http://schemas.openxmlformats.org/drawingml/2006/main" noGrp="1"/>
          </p:cNvSpPr>
          <p:nvPr/>
        </p:nvSpPr>
        <p:spPr>
          <a:xfrm xmlns:a="http://schemas.openxmlformats.org/drawingml/2006/main">
            <a:off x="685800" y="24574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9313A"/>
                </a:solidFill>
                <a:latin typeface="Arial"/>
                <a:ea typeface="Arial"/>
                <a:cs typeface="Arial"/>
              </a:defRPr>
            </a:pPr>
            <a:r>
              <a:rPr sz="1725" b="0">
                <a:solidFill>
                  <a:srgbClr val="29313A"/>
                </a:solidFill>
                <a:latin typeface="Arial"/>
                <a:ea typeface="Arial"/>
                <a:cs typeface="Arial"/>
              </a:rPr>
              <a:t>Record, upload, and review the session.</a:t>
            </a:r>
          </a:p>
        </p:txBody>
      </p:sp>
      <p:sp>
        <p:nvSpPr>
          <p:cNvPr id="4" name="">
            <a:extLst xmlns:a="http://schemas.openxmlformats.org/drawingml/2006/main">
              <a:ext uri="{FF2B5EF4-FFF2-40B4-BE49-F238E27FC236}">
                <a16:creationId xmlns:a16="http://schemas.microsoft.com/office/drawing/2014/main" id="{0A375973-1FEF-4493-85C7-A735095B4B47}"/>
              </a:ext>
            </a:extLst>
          </p:cNvPr>
          <p:cNvSpPr>
            <a:spLocks xmlns:a="http://schemas.openxmlformats.org/drawingml/2006/main" noGrp="1"/>
          </p:cNvSpPr>
          <p:nvPr/>
        </p:nvSpPr>
        <p:spPr>
          <a:xfrm xmlns:a="http://schemas.openxmlformats.org/drawingml/2006/main">
            <a:off x="3714750" y="2238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632"/>
          </a:bodyPr>
          <a:lstStyle xmlns:a="http://schemas.openxmlformats.org/drawingml/2006/main"/>
          <a:p xmlns:a="http://schemas.openxmlformats.org/drawingml/2006/main">
            <a:pPr algn="ctr">
              <a:defRPr sz="2850" b="1">
                <a:solidFill>
                  <a:srgbClr val="6A737C"/>
                </a:solidFill>
                <a:latin typeface="Arial"/>
                <a:ea typeface="Arial"/>
                <a:cs typeface="Arial"/>
              </a:defRPr>
            </a:pPr>
            <a:r>
              <a:rPr sz="2850" b="1">
                <a:solidFill>
                  <a:srgbClr val="6A737C"/>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3B0749B9-1C21-4AC3-9A10-AECDE656B176}"/>
              </a:ext>
            </a:extLst>
          </p:cNvPr>
          <p:cNvSpPr>
            <a:spLocks xmlns:a="http://schemas.openxmlformats.org/drawingml/2006/main" noGrp="1"/>
          </p:cNvSpPr>
          <p:nvPr/>
        </p:nvSpPr>
        <p:spPr>
          <a:xfrm xmlns:a="http://schemas.openxmlformats.org/drawingml/2006/main">
            <a:off x="4619625" y="19526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E98232"/>
                </a:solidFill>
                <a:latin typeface="Arial"/>
                <a:ea typeface="Arial"/>
                <a:cs typeface="Arial"/>
              </a:defRPr>
            </a:pPr>
            <a:r>
              <a:rPr sz="1875" b="1">
                <a:solidFill>
                  <a:srgbClr val="E98232"/>
                </a:solidFill>
                <a:latin typeface="Arial"/>
                <a:ea typeface="Arial"/>
                <a:cs typeface="Arial"/>
              </a:rPr>
              <a:t>EXPRESS</a:t>
            </a:r>
          </a:p>
        </p:txBody>
      </p:sp>
      <p:sp>
        <p:nvSpPr>
          <p:cNvPr id="6" name="">
            <a:extLst xmlns:a="http://schemas.openxmlformats.org/drawingml/2006/main">
              <a:ext uri="{FF2B5EF4-FFF2-40B4-BE49-F238E27FC236}">
                <a16:creationId xmlns:a16="http://schemas.microsoft.com/office/drawing/2014/main" id="{A3907964-E181-4987-87D3-BD5868D35686}"/>
              </a:ext>
            </a:extLst>
          </p:cNvPr>
          <p:cNvSpPr>
            <a:spLocks xmlns:a="http://schemas.openxmlformats.org/drawingml/2006/main" noGrp="1"/>
          </p:cNvSpPr>
          <p:nvPr/>
        </p:nvSpPr>
        <p:spPr>
          <a:xfrm xmlns:a="http://schemas.openxmlformats.org/drawingml/2006/main">
            <a:off x="4619625" y="245745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9313A"/>
                </a:solidFill>
                <a:latin typeface="Arial"/>
                <a:ea typeface="Arial"/>
                <a:cs typeface="Arial"/>
              </a:defRPr>
            </a:pPr>
            <a:r>
              <a:rPr sz="1725" b="0">
                <a:solidFill>
                  <a:srgbClr val="29313A"/>
                </a:solidFill>
                <a:latin typeface="Arial"/>
                <a:ea typeface="Arial"/>
                <a:cs typeface="Arial"/>
              </a:rPr>
              <a:t>Validate requests and keep service keys on the server.</a:t>
            </a:r>
          </a:p>
        </p:txBody>
      </p:sp>
      <p:sp>
        <p:nvSpPr>
          <p:cNvPr id="7" name="">
            <a:extLst xmlns:a="http://schemas.openxmlformats.org/drawingml/2006/main">
              <a:ext uri="{FF2B5EF4-FFF2-40B4-BE49-F238E27FC236}">
                <a16:creationId xmlns:a16="http://schemas.microsoft.com/office/drawing/2014/main" id="{FDE127B0-71A2-4AC9-81A2-AF4465830FDE}"/>
              </a:ext>
            </a:extLst>
          </p:cNvPr>
          <p:cNvSpPr>
            <a:spLocks xmlns:a="http://schemas.openxmlformats.org/drawingml/2006/main" noGrp="1"/>
          </p:cNvSpPr>
          <p:nvPr/>
        </p:nvSpPr>
        <p:spPr>
          <a:xfrm xmlns:a="http://schemas.openxmlformats.org/drawingml/2006/main">
            <a:off x="7477125" y="2238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632"/>
          </a:bodyPr>
          <a:lstStyle xmlns:a="http://schemas.openxmlformats.org/drawingml/2006/main"/>
          <a:p xmlns:a="http://schemas.openxmlformats.org/drawingml/2006/main">
            <a:pPr algn="ctr">
              <a:defRPr sz="2850" b="1">
                <a:solidFill>
                  <a:srgbClr val="6A737C"/>
                </a:solidFill>
                <a:latin typeface="Arial"/>
                <a:ea typeface="Arial"/>
                <a:cs typeface="Arial"/>
              </a:defRPr>
            </a:pPr>
            <a:r>
              <a:rPr sz="2850" b="1">
                <a:solidFill>
                  <a:srgbClr val="6A737C"/>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8D8BC573-D8E1-4A52-B5C7-62502BD979DB}"/>
              </a:ext>
            </a:extLst>
          </p:cNvPr>
          <p:cNvSpPr>
            <a:spLocks xmlns:a="http://schemas.openxmlformats.org/drawingml/2006/main" noGrp="1"/>
          </p:cNvSpPr>
          <p:nvPr/>
        </p:nvSpPr>
        <p:spPr>
          <a:xfrm xmlns:a="http://schemas.openxmlformats.org/drawingml/2006/main">
            <a:off x="8334375" y="19526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E98232"/>
                </a:solidFill>
                <a:latin typeface="Arial"/>
                <a:ea typeface="Arial"/>
                <a:cs typeface="Arial"/>
              </a:defRPr>
            </a:pPr>
            <a:r>
              <a:rPr sz="1875" b="1">
                <a:solidFill>
                  <a:srgbClr val="E98232"/>
                </a:solidFill>
                <a:latin typeface="Arial"/>
                <a:ea typeface="Arial"/>
                <a:cs typeface="Arial"/>
              </a:rPr>
              <a:t>GEMINI + SUPABASE</a:t>
            </a:r>
          </a:p>
        </p:txBody>
      </p:sp>
      <p:sp>
        <p:nvSpPr>
          <p:cNvPr id="9" name="">
            <a:extLst xmlns:a="http://schemas.openxmlformats.org/drawingml/2006/main">
              <a:ext uri="{FF2B5EF4-FFF2-40B4-BE49-F238E27FC236}">
                <a16:creationId xmlns:a16="http://schemas.microsoft.com/office/drawing/2014/main" id="{82DA97D4-F78F-40C1-B38E-CC96F91A999C}"/>
              </a:ext>
            </a:extLst>
          </p:cNvPr>
          <p:cNvSpPr>
            <a:spLocks xmlns:a="http://schemas.openxmlformats.org/drawingml/2006/main" noGrp="1"/>
          </p:cNvSpPr>
          <p:nvPr/>
        </p:nvSpPr>
        <p:spPr>
          <a:xfrm xmlns:a="http://schemas.openxmlformats.org/drawingml/2006/main">
            <a:off x="8334375" y="2457450"/>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29313A"/>
                </a:solidFill>
                <a:latin typeface="Arial"/>
                <a:ea typeface="Arial"/>
                <a:cs typeface="Arial"/>
              </a:defRPr>
            </a:pPr>
            <a:r>
              <a:rPr sz="1725" b="0">
                <a:solidFill>
                  <a:srgbClr val="29313A"/>
                </a:solidFill>
                <a:latin typeface="Arial"/>
                <a:ea typeface="Arial"/>
                <a:cs typeface="Arial"/>
              </a:rPr>
              <a:t>Gemini returns coaching; Supabase stores session analysis.</a:t>
            </a:r>
          </a:p>
        </p:txBody>
      </p:sp>
      <p:sp>
        <p:nvSpPr>
          <p:cNvPr id="10" name="">
            <a:extLst xmlns:a="http://schemas.openxmlformats.org/drawingml/2006/main">
              <a:ext uri="{FF2B5EF4-FFF2-40B4-BE49-F238E27FC236}">
                <a16:creationId xmlns:a16="http://schemas.microsoft.com/office/drawing/2014/main" id="{4EE0A224-9CBD-46B5-8B02-F1318BFFDE4B}"/>
              </a:ext>
            </a:extLst>
          </p:cNvPr>
          <p:cNvSpPr>
            <a:spLocks xmlns:a="http://schemas.openxmlformats.org/drawingml/2006/main" noGrp="1"/>
          </p:cNvSpPr>
          <p:nvPr/>
        </p:nvSpPr>
        <p:spPr>
          <a:xfrm xmlns:a="http://schemas.openxmlformats.org/drawingml/2006/main">
            <a:off x="685800" y="4429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6A737C"/>
                </a:solidFill>
                <a:latin typeface="Arial"/>
                <a:ea typeface="Arial"/>
                <a:cs typeface="Arial"/>
              </a:defRPr>
            </a:pPr>
            <a:r>
              <a:rPr sz="1650" b="0">
                <a:solidFill>
                  <a:srgbClr val="6A737C"/>
                </a:solidFill>
                <a:latin typeface="Arial"/>
                <a:ea typeface="Arial"/>
                <a:cs typeface="Arial"/>
              </a:rPr>
              <a:t>React  •  TypeScript  •  Vite</a:t>
            </a:r>
          </a:p>
        </p:txBody>
      </p:sp>
      <p:sp>
        <p:nvSpPr>
          <p:cNvPr id="11" name="">
            <a:extLst xmlns:a="http://schemas.openxmlformats.org/drawingml/2006/main">
              <a:ext uri="{FF2B5EF4-FFF2-40B4-BE49-F238E27FC236}">
                <a16:creationId xmlns:a16="http://schemas.microsoft.com/office/drawing/2014/main" id="{ECFF7422-FB7B-41EA-BC2D-2572DDBC5DFD}"/>
              </a:ext>
            </a:extLst>
          </p:cNvPr>
          <p:cNvSpPr>
            <a:spLocks xmlns:a="http://schemas.openxmlformats.org/drawingml/2006/main" noGrp="1"/>
          </p:cNvSpPr>
          <p:nvPr/>
        </p:nvSpPr>
        <p:spPr>
          <a:xfrm xmlns:a="http://schemas.openxmlformats.org/drawingml/2006/main">
            <a:off x="4619625" y="4429125"/>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6A737C"/>
                </a:solidFill>
                <a:latin typeface="Arial"/>
                <a:ea typeface="Arial"/>
                <a:cs typeface="Arial"/>
              </a:defRPr>
            </a:pPr>
            <a:r>
              <a:rPr sz="1650" b="0">
                <a:solidFill>
                  <a:srgbClr val="6A737C"/>
                </a:solidFill>
                <a:latin typeface="Arial"/>
                <a:ea typeface="Arial"/>
                <a:cs typeface="Arial"/>
              </a:rPr>
              <a:t>Node.js  •  Express  •  Supabase Postgres</a:t>
            </a:r>
          </a:p>
        </p:txBody>
      </p:sp>
      <p:sp>
        <p:nvSpPr>
          <p:cNvPr id="12" name="">
            <a:extLst xmlns:a="http://schemas.openxmlformats.org/drawingml/2006/main">
              <a:ext uri="{FF2B5EF4-FFF2-40B4-BE49-F238E27FC236}">
                <a16:creationId xmlns:a16="http://schemas.microsoft.com/office/drawing/2014/main" id="{1E04E994-A31B-48FA-87AD-BA0CDCF05F19}"/>
              </a:ext>
            </a:extLst>
          </p:cNvPr>
          <p:cNvSpPr>
            <a:spLocks xmlns:a="http://schemas.openxmlformats.org/drawingml/2006/main" noGrp="1"/>
          </p:cNvSpPr>
          <p:nvPr/>
        </p:nvSpPr>
        <p:spPr>
          <a:xfrm xmlns:a="http://schemas.openxmlformats.org/drawingml/2006/main">
            <a:off x="685800" y="528637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317"/>
                </a:solidFill>
                <a:latin typeface="Arial"/>
                <a:ea typeface="Arial"/>
                <a:cs typeface="Arial"/>
              </a:defRPr>
            </a:pPr>
            <a:r>
              <a:rPr sz="1650" b="1">
                <a:solidFill>
                  <a:srgbClr val="111317"/>
                </a:solidFill>
                <a:latin typeface="Arial"/>
                <a:ea typeface="Arial"/>
                <a:cs typeface="Arial"/>
              </a:rPr>
              <a:t>Session analyses persist as JSONB. Audio is sent to Gemini and is not saved in the session table.</a:t>
            </a:r>
          </a:p>
        </p:txBody>
      </p:sp>
    </p:spTree>
    <p:extLst>
      <p:ext uri="{BB962C8B-B14F-4D97-AF65-F5344CB8AC3E}">
        <p14:creationId xmlns:p14="http://schemas.microsoft.com/office/powerpoint/2010/main" val="1108734793"/>
      </p:ext>
    </p:extLst>
  </p:cSld>
</p:sld>
</file>

<file path=ppt/slides/slide5.xml><?xml version="1.0" encoding="utf-8"?>
<p:sld xmlns:p="http://schemas.openxmlformats.org/presentationml/2006/main">
  <p:cSld>
    <p:bg>
      <p:bgPr>
        <a:solidFill xmlns:a="http://schemas.openxmlformats.org/drawingml/2006/main">
          <a:srgbClr val="11131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762437-3D98-4306-ABA6-9FB8D219A7CA}"/>
              </a:ext>
            </a:extLst>
          </p:cNvPr>
          <p:cNvSpPr>
            <a:spLocks xmlns:a="http://schemas.openxmlformats.org/drawingml/2006/main" noGrp="1"/>
          </p:cNvSpPr>
          <p:nvPr/>
        </p:nvSpPr>
        <p:spPr>
          <a:xfrm xmlns:a="http://schemas.openxmlformats.org/drawingml/2006/main">
            <a:off x="647700" y="571500"/>
            <a:ext cx="695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What ships before</a:t>
            </a:r>
          </a:p>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the live pitch</a:t>
            </a:r>
          </a:p>
        </p:txBody>
      </p:sp>
      <p:sp>
        <p:nvSpPr>
          <p:cNvPr id="2" name="">
            <a:extLst xmlns:a="http://schemas.openxmlformats.org/drawingml/2006/main">
              <a:ext uri="{FF2B5EF4-FFF2-40B4-BE49-F238E27FC236}">
                <a16:creationId xmlns:a16="http://schemas.microsoft.com/office/drawing/2014/main" id="{07438FA7-B066-4D53-876C-D9353DDA4B12}"/>
              </a:ext>
            </a:extLst>
          </p:cNvPr>
          <p:cNvSpPr>
            <a:spLocks xmlns:a="http://schemas.openxmlformats.org/drawingml/2006/main" noGrp="1"/>
          </p:cNvSpPr>
          <p:nvPr/>
        </p:nvSpPr>
        <p:spPr>
          <a:xfrm xmlns:a="http://schemas.openxmlformats.org/drawingml/2006/main">
            <a:off x="685800" y="2333625"/>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4F4F2"/>
                </a:solidFill>
                <a:latin typeface="Arial"/>
                <a:ea typeface="Arial"/>
                <a:cs typeface="Arial"/>
              </a:defRPr>
            </a:pPr>
            <a:r>
              <a:rPr sz="1875" b="0">
                <a:solidFill>
                  <a:srgbClr val="F4F4F2"/>
                </a:solidFill>
                <a:latin typeface="Arial"/>
                <a:ea typeface="Arial"/>
                <a:cs typeface="Arial"/>
              </a:rPr>
              <a:t>01  Run the Supabase schema and add server secrets</a:t>
            </a:r>
          </a:p>
        </p:txBody>
      </p:sp>
      <p:sp>
        <p:nvSpPr>
          <p:cNvPr id="3" name="">
            <a:extLst xmlns:a="http://schemas.openxmlformats.org/drawingml/2006/main">
              <a:ext uri="{FF2B5EF4-FFF2-40B4-BE49-F238E27FC236}">
                <a16:creationId xmlns:a16="http://schemas.microsoft.com/office/drawing/2014/main" id="{49D75DFC-B252-4C3A-BD6B-80EE8B224629}"/>
              </a:ext>
            </a:extLst>
          </p:cNvPr>
          <p:cNvSpPr>
            <a:spLocks xmlns:a="http://schemas.openxmlformats.org/drawingml/2006/main" noGrp="1"/>
          </p:cNvSpPr>
          <p:nvPr/>
        </p:nvSpPr>
        <p:spPr>
          <a:xfrm xmlns:a="http://schemas.openxmlformats.org/drawingml/2006/main">
            <a:off x="685800" y="309562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4F4F2"/>
                </a:solidFill>
                <a:latin typeface="Arial"/>
                <a:ea typeface="Arial"/>
                <a:cs typeface="Arial"/>
              </a:defRPr>
            </a:pPr>
            <a:r>
              <a:rPr sz="1875" b="0">
                <a:solidFill>
                  <a:srgbClr val="F4F4F2"/>
                </a:solidFill>
                <a:latin typeface="Arial"/>
                <a:ea typeface="Arial"/>
                <a:cs typeface="Arial"/>
              </a:rPr>
              <a:t>02  Deploy on Vercel and add the public URL</a:t>
            </a:r>
          </a:p>
        </p:txBody>
      </p:sp>
      <p:sp>
        <p:nvSpPr>
          <p:cNvPr id="4" name="">
            <a:extLst xmlns:a="http://schemas.openxmlformats.org/drawingml/2006/main">
              <a:ext uri="{FF2B5EF4-FFF2-40B4-BE49-F238E27FC236}">
                <a16:creationId xmlns:a16="http://schemas.microsoft.com/office/drawing/2014/main" id="{7A3B2F94-1F9B-4968-86E7-916BFE9041DA}"/>
              </a:ext>
            </a:extLst>
          </p:cNvPr>
          <p:cNvSpPr>
            <a:spLocks xmlns:a="http://schemas.openxmlformats.org/drawingml/2006/main" noGrp="1"/>
          </p:cNvSpPr>
          <p:nvPr/>
        </p:nvSpPr>
        <p:spPr>
          <a:xfrm xmlns:a="http://schemas.openxmlformats.org/drawingml/2006/main">
            <a:off x="685800" y="3857625"/>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4F4F2"/>
                </a:solidFill>
                <a:latin typeface="Arial"/>
                <a:ea typeface="Arial"/>
                <a:cs typeface="Arial"/>
              </a:defRPr>
            </a:pPr>
            <a:r>
              <a:rPr sz="1875" b="0">
                <a:solidFill>
                  <a:srgbClr val="F4F4F2"/>
                </a:solidFill>
                <a:latin typeface="Arial"/>
                <a:ea typeface="Arial"/>
                <a:cs typeface="Arial"/>
              </a:rPr>
              <a:t>03  Test microphone, analysis, and saved history on a phone</a:t>
            </a:r>
          </a:p>
        </p:txBody>
      </p:sp>
      <p:sp>
        <p:nvSpPr>
          <p:cNvPr id="5" name="">
            <a:extLst xmlns:a="http://schemas.openxmlformats.org/drawingml/2006/main">
              <a:ext uri="{FF2B5EF4-FFF2-40B4-BE49-F238E27FC236}">
                <a16:creationId xmlns:a16="http://schemas.microsoft.com/office/drawing/2014/main" id="{A66696BE-A304-422E-9942-251348104CFC}"/>
              </a:ext>
            </a:extLst>
          </p:cNvPr>
          <p:cNvSpPr>
            <a:spLocks xmlns:a="http://schemas.openxmlformats.org/drawingml/2006/main" noGrp="1"/>
          </p:cNvSpPr>
          <p:nvPr/>
        </p:nvSpPr>
        <p:spPr>
          <a:xfrm xmlns:a="http://schemas.openxmlformats.org/drawingml/2006/main">
            <a:off x="685800" y="485775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52"/>
          </a:bodyPr>
          <a:lstStyle xmlns:a="http://schemas.openxmlformats.org/drawingml/2006/main"/>
          <a:p xmlns:a="http://schemas.openxmlformats.org/drawingml/2006/main">
            <a:pPr algn="l">
              <a:defRPr sz="1650" b="0">
                <a:solidFill>
                  <a:srgbClr val="C9CDD1"/>
                </a:solidFill>
                <a:latin typeface="Arial"/>
                <a:ea typeface="Arial"/>
                <a:cs typeface="Arial"/>
              </a:defRPr>
            </a:pPr>
            <a:r>
              <a:rPr sz="1650" b="0">
                <a:solidFill>
                  <a:srgbClr val="C9CDD1"/>
                </a:solidFill>
                <a:latin typeface="Arial"/>
                <a:ea typeface="Arial"/>
                <a:cs typeface="Arial"/>
              </a:rPr>
              <a:t>Typecheck and production build pass. Live credentials and phone test are still pending.</a:t>
            </a:r>
          </a:p>
        </p:txBody>
      </p:sp>
      <p:sp>
        <p:nvSpPr>
          <p:cNvPr id="6" name="">
            <a:extLst xmlns:a="http://schemas.openxmlformats.org/drawingml/2006/main">
              <a:ext uri="{FF2B5EF4-FFF2-40B4-BE49-F238E27FC236}">
                <a16:creationId xmlns:a16="http://schemas.microsoft.com/office/drawing/2014/main" id="{79E35371-3539-4AE6-A7E3-4400D818AFF4}"/>
              </a:ext>
            </a:extLst>
          </p:cNvPr>
          <p:cNvSpPr>
            <a:spLocks xmlns:a="http://schemas.openxmlformats.org/drawingml/2006/main" noGrp="1"/>
          </p:cNvSpPr>
          <p:nvPr/>
        </p:nvSpPr>
        <p:spPr>
          <a:xfrm xmlns:a="http://schemas.openxmlformats.org/drawingml/2006/main">
            <a:off x="685800" y="590550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800" b="1">
                <a:solidFill>
                  <a:srgbClr val="E98232"/>
                </a:solidFill>
                <a:latin typeface="Arial"/>
                <a:ea typeface="Arial"/>
                <a:cs typeface="Arial"/>
              </a:defRPr>
            </a:pPr>
            <a:r>
              <a:rPr sz="1800" b="1">
                <a:solidFill>
                  <a:srgbClr val="E98232"/>
                </a:solidFill>
                <a:latin typeface="Arial"/>
                <a:ea typeface="Arial"/>
                <a:cs typeface="Arial"/>
              </a:rPr>
              <a:t>Next: add the deployed URL, then show two flows live.</a:t>
            </a:r>
          </a:p>
        </p:txBody>
      </p:sp>
    </p:spTree>
    <p:extLst>
      <p:ext uri="{BB962C8B-B14F-4D97-AF65-F5344CB8AC3E}">
        <p14:creationId xmlns:p14="http://schemas.microsoft.com/office/powerpoint/2010/main" val="19603772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2026-10-05T18:01:02.1540000Z</dcterms:created>
  <dcterms:modified xsi:type="dcterms:W3CDTF">2026-10-05T18:01:02.1540000Z</dcterms:modified>
</coreProperties>
</file>