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cc296db5124661" /><Relationship Type="http://schemas.openxmlformats.org/officeDocument/2006/relationships/extended-properties" Target="/docProps/app.xml" Id="Rc0ab5c126bdb4639" /><Relationship Type="http://schemas.openxmlformats.org/officeDocument/2006/relationships/officeDocument" Target="/ppt/presentation.xml" Id="R7b59f9c3200047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b481a330184442"/>
  </p:sldMasterIdLst>
  <p:notesMasterIdLst>
    <p:notesMasterId xmlns:r="http://schemas.openxmlformats.org/officeDocument/2006/relationships" r:id="R781e8616528a4d2f"/>
  </p:notesMasterIdLst>
  <p:sldIdLst>
    <p:sldId xmlns:r="http://schemas.openxmlformats.org/officeDocument/2006/relationships" id="256" r:id="Ref1cc114007e47d2"/>
    <p:sldId xmlns:r="http://schemas.openxmlformats.org/officeDocument/2006/relationships" id="257" r:id="Rbf8ae698fd964e89"/>
    <p:sldId xmlns:r="http://schemas.openxmlformats.org/officeDocument/2006/relationships" id="258" r:id="R3fe03d1d18fd4219"/>
    <p:sldId xmlns:r="http://schemas.openxmlformats.org/officeDocument/2006/relationships" id="259" r:id="R025757a9778444bb"/>
    <p:sldId xmlns:r="http://schemas.openxmlformats.org/officeDocument/2006/relationships" id="260" r:id="R27bcb4fb745049cb"/>
    <p:sldId xmlns:r="http://schemas.openxmlformats.org/officeDocument/2006/relationships" id="261" r:id="R70e0e44313914d8e"/>
    <p:sldId xmlns:r="http://schemas.openxmlformats.org/officeDocument/2006/relationships" id="262" r:id="R330a19d531e84d7b"/>
    <p:sldId xmlns:r="http://schemas.openxmlformats.org/officeDocument/2006/relationships" id="263" r:id="R76582cb42ce44112"/>
    <p:sldId xmlns:r="http://schemas.openxmlformats.org/officeDocument/2006/relationships" id="264" r:id="R68bf614065c448a7"/>
    <p:sldId xmlns:r="http://schemas.openxmlformats.org/officeDocument/2006/relationships" id="265" r:id="Ra71e1a005da840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308ab60b5c4ee5" /><Relationship Type="http://schemas.openxmlformats.org/officeDocument/2006/relationships/slideMaster" Target="/ppt/slideMasters/slideMaster1.xml" Id="Rc1b481a330184442" /><Relationship Type="http://schemas.openxmlformats.org/officeDocument/2006/relationships/notesMaster" Target="/ppt/notesMasters/notesMaster1.xml" Id="R781e8616528a4d2f" /><Relationship Type="http://schemas.openxmlformats.org/officeDocument/2006/relationships/presProps" Target="/ppt/presProps.xml" Id="R7c2843c731184be8" /><Relationship Type="http://schemas.openxmlformats.org/officeDocument/2006/relationships/tableStyles" Target="/ppt/tableStyles.xml" Id="R891dcba335244255" /><Relationship Type="http://schemas.openxmlformats.org/officeDocument/2006/relationships/slide" Target="/ppt/slides/slide1.xml" Id="Ref1cc114007e47d2" /><Relationship Type="http://schemas.openxmlformats.org/officeDocument/2006/relationships/slide" Target="/ppt/slides/slide2.xml" Id="Rbf8ae698fd964e89" /><Relationship Type="http://schemas.openxmlformats.org/officeDocument/2006/relationships/slide" Target="/ppt/slides/slide3.xml" Id="R3fe03d1d18fd4219" /><Relationship Type="http://schemas.openxmlformats.org/officeDocument/2006/relationships/slide" Target="/ppt/slides/slide4.xml" Id="R025757a9778444bb" /><Relationship Type="http://schemas.openxmlformats.org/officeDocument/2006/relationships/slide" Target="/ppt/slides/slide5.xml" Id="R27bcb4fb745049cb" /><Relationship Type="http://schemas.openxmlformats.org/officeDocument/2006/relationships/slide" Target="/ppt/slides/slide6.xml" Id="R70e0e44313914d8e" /><Relationship Type="http://schemas.openxmlformats.org/officeDocument/2006/relationships/slide" Target="/ppt/slides/slide7.xml" Id="R330a19d531e84d7b" /><Relationship Type="http://schemas.openxmlformats.org/officeDocument/2006/relationships/slide" Target="/ppt/slides/slide8.xml" Id="R76582cb42ce44112" /><Relationship Type="http://schemas.openxmlformats.org/officeDocument/2006/relationships/slide" Target="/ppt/slides/slide9.xml" Id="R68bf614065c448a7" /><Relationship Type="http://schemas.openxmlformats.org/officeDocument/2006/relationships/slide" Target="/ppt/slides/slide10.xml" Id="Ra71e1a005da840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e42d91ce614f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39f26312b34f32" /><Relationship Type="http://schemas.openxmlformats.org/officeDocument/2006/relationships/notesMaster" Target="/ppt/notesMasters/notesMaster1.xml" Id="Re57c802d178a47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f9eb31f01944e3" /><Relationship Type="http://schemas.openxmlformats.org/officeDocument/2006/relationships/notesMaster" Target="/ppt/notesMasters/notesMaster1.xml" Id="R82abdd19a31b4a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e07eef908b41f4" /><Relationship Type="http://schemas.openxmlformats.org/officeDocument/2006/relationships/notesMaster" Target="/ppt/notesMasters/notesMaster1.xml" Id="Rd536b5a2fb3e47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47b2127ac7497d" /><Relationship Type="http://schemas.openxmlformats.org/officeDocument/2006/relationships/notesMaster" Target="/ppt/notesMasters/notesMaster1.xml" Id="R2b33d96c3d0d4a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c1b04653ae4afa" /><Relationship Type="http://schemas.openxmlformats.org/officeDocument/2006/relationships/notesMaster" Target="/ppt/notesMasters/notesMaster1.xml" Id="R326d9ac8172744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e7c0908a4543cc" /><Relationship Type="http://schemas.openxmlformats.org/officeDocument/2006/relationships/notesMaster" Target="/ppt/notesMasters/notesMaster1.xml" Id="Rdbb9f426026b46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a7de59ea994210" /><Relationship Type="http://schemas.openxmlformats.org/officeDocument/2006/relationships/notesMaster" Target="/ppt/notesMasters/notesMaster1.xml" Id="R86b0e7d67be14f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815a4c5fdb464a" /><Relationship Type="http://schemas.openxmlformats.org/officeDocument/2006/relationships/notesMaster" Target="/ppt/notesMasters/notesMaster1.xml" Id="Rbf6ff813996d4b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254825c5834927" /><Relationship Type="http://schemas.openxmlformats.org/officeDocument/2006/relationships/notesMaster" Target="/ppt/notesMasters/notesMaster1.xml" Id="Rd78a67b762244a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e37b300f2b4e27" /><Relationship Type="http://schemas.openxmlformats.org/officeDocument/2006/relationships/notesMaster" Target="/ppt/notesMasters/notesMaster1.xml" Id="R2bf612ceea214f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0:00–0:10. Introduce Cadence and point out the live URL on screen. Say that this is a speech rehearsal app for students and job seekers.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0:10–1:00. Explain the problem and users: students and job seekers often hear vague encouragement, but need specific feedback before a class talk, research defense, interview, or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1:00–1:10. Summarize the loop: record, inspect transcript and delivery metrics, then use a coaching recommendation or targeted drill. Transition directly into the live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1:10–1:25. Open the actual production URL. Point out the rehearsal setup, recording/upload controls, and cue cards. This slide is a current screenshot; continue with the live app for the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1:25–1:40. State clearly that this is a sample session, not a live recording. Use this only if Gemini is unavailable or as a quick preview of transcript highlights. Do not claim it came from the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1:40–4:00. Flow one: open New Rehearsal, record a short answer, finish, wait for audio preparation, request AI feedback, then show the transcript and metrics. Flow two: open AI Coach or a targeted drill and show Session History. Keep the two flows concise. If live Gemini is unavailable, use Sample Speeches as a clearly labeled fallback; do not present sample content as a live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4:00–4:15. Explain the stack in one breath: React and TypeScript in the browser, an Express API on Vercel, Gemini for analysis, and Supabase Postgres for saved session analysis. API keys stay server-side; recordings are sent to Gemini and are not saved in the session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4:15–4:30. Name the main APIs quickly: speech analysis, drill analysis, voice coaching, session load/save, and session delete. Supabase stores the analysis as JSONB. The browser uses a random profile ID for this demo; it is not an authenticated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4:30–4:45. Be transparent about two limits: Gemini can be temporarily unavailable, and the demo profile is tied to one browser rather than a sign-in account. Reliability changes now wait for audio preparation, reject the known generic transcript placeholder, keep failed deletions visible, and return retryable API errors.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4:45–5:00. Close with the main learning: useful feedback should point to evidence and a next action. State the next steps honestly: verify the microphone and phone flow, then add authenticated accounts. Do not claim the device checks are complete until you have run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575b459174a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95cbd1a6b74aaf" /><Relationship Type="http://schemas.openxmlformats.org/officeDocument/2006/relationships/slideLayout" Target="/ppt/slideLayouts/slideLayout1.xml" Id="R580c9925431143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0c9925431143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36ae3a0454200" /><Relationship Type="http://schemas.openxmlformats.org/officeDocument/2006/relationships/image" Target="/ppt/media/image.jpeg" Id="R7bfc2bbf3e8440da" /><Relationship Type="http://schemas.openxmlformats.org/officeDocument/2006/relationships/notesSlide" Target="/ppt/notesSlides/notesSlide1.xml" Id="Rb2c4a4db43014a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1c0f9184a40a7" /><Relationship Type="http://schemas.openxmlformats.org/officeDocument/2006/relationships/image" Target="/ppt/media/image2.jpeg" Id="R9d61552c692b4513" /><Relationship Type="http://schemas.openxmlformats.org/officeDocument/2006/relationships/notesSlide" Target="/ppt/notesSlides/notesSlide2.xml" Id="Radacb83f5dda4c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ea1aba09d4c11" /><Relationship Type="http://schemas.openxmlformats.org/officeDocument/2006/relationships/image" Target="/ppt/media/image3.jpeg" Id="Rc3ff18062b374958" /><Relationship Type="http://schemas.openxmlformats.org/officeDocument/2006/relationships/notesSlide" Target="/ppt/notesSlides/notesSlide3.xml" Id="Ra069cc6e4dce42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3c553d1494243" /><Relationship Type="http://schemas.openxmlformats.org/officeDocument/2006/relationships/image" Target="/ppt/media/image.png" Id="R7d11051f7791400d" /><Relationship Type="http://schemas.openxmlformats.org/officeDocument/2006/relationships/notesSlide" Target="/ppt/notesSlides/notesSlide4.xml" Id="Rbe262890011749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8f28c8b20431a" /><Relationship Type="http://schemas.openxmlformats.org/officeDocument/2006/relationships/image" Target="/ppt/media/image2.png" Id="Rc6ff96cb652c47ad" /><Relationship Type="http://schemas.openxmlformats.org/officeDocument/2006/relationships/notesSlide" Target="/ppt/notesSlides/notesSlide5.xml" Id="Rd5efa2d19de646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cfcf125c646b2" /><Relationship Type="http://schemas.openxmlformats.org/officeDocument/2006/relationships/notesSlide" Target="/ppt/notesSlides/notesSlide6.xml" Id="R34f9bd75078c44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2fbb7b82c45c0" /><Relationship Type="http://schemas.openxmlformats.org/officeDocument/2006/relationships/notesSlide" Target="/ppt/notesSlides/notesSlide7.xml" Id="R8e2e8e7fe6c04e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ce6f63d604c1a" /><Relationship Type="http://schemas.openxmlformats.org/officeDocument/2006/relationships/notesSlide" Target="/ppt/notesSlides/notesSlide8.xml" Id="R4c186da4bee741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949a781ec414d" /><Relationship Type="http://schemas.openxmlformats.org/officeDocument/2006/relationships/notesSlide" Target="/ppt/notesSlides/notesSlide9.xml" Id="R51247a9231cc4f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cc44579d9411d" /><Relationship Type="http://schemas.openxmlformats.org/officeDocument/2006/relationships/notesSlide" Target="/ppt/notesSlides/notesSlide10.xml" Id="R7eef8ec3c65d4f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c2bbf3e8440da"/>
          <a:srcRect xmlns:a="http://schemas.openxmlformats.org/drawingml/2006/main" l="26163" t="0" r="261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0"/>
            <a:ext cx="58578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34F03-FA46-4548-B7B0-C24B5E0A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98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98232"/>
                </a:solidFill>
                <a:latin typeface="Arial"/>
                <a:ea typeface="Arial"/>
                <a:cs typeface="Arial"/>
              </a:rPr>
              <a:t>CADENCE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11BA4-C4F7-42F9-82B0-C002ED39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23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Practice with</a:t>
            </a:r>
          </a:p>
          <a:p xmlns:a="http://schemas.openxmlformats.org/drawingml/2006/main">
            <a:pPr algn="l">
              <a:buNone/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useful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CEAD3-B4D3-4ABD-BD62-3BDD01D0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E2E4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2E4E7"/>
                </a:solidFill>
                <a:latin typeface="Arial"/>
                <a:ea typeface="Arial"/>
                <a:cs typeface="Arial"/>
              </a:rPr>
              <a:t>A speech rehearsal coach for students and job seekers.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D424A-8836-4222-B6DF-1E6B71E7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5C8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C8CC"/>
                </a:solidFill>
                <a:latin typeface="Arial"/>
                <a:ea typeface="Arial"/>
                <a:cs typeface="Arial"/>
              </a:rPr>
              <a:t>Live URL: https://cadenceproject.vercel.app</a:t>
            </a:r>
          </a:p>
        </p:txBody>
      </p:sp>
    </p:spTree>
    <p:extLst>
      <p:ext uri="{BB962C8B-B14F-4D97-AF65-F5344CB8AC3E}">
        <p14:creationId xmlns:p14="http://schemas.microsoft.com/office/powerpoint/2010/main" val="1531683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2AF45-1212-4983-AD93-86250E91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7"/>
                </a:solidFill>
                <a:latin typeface="Arial"/>
                <a:ea typeface="Arial"/>
                <a:cs typeface="Arial"/>
              </a:rPr>
              <a:t>“It was great” leaves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7"/>
                </a:solidFill>
                <a:latin typeface="Arial"/>
                <a:ea typeface="Arial"/>
                <a:cs typeface="Arial"/>
              </a:rPr>
              <a:t>the speaker guessing.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5E262-A936-48EB-8C4C-1788DD40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931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13A"/>
                </a:solidFill>
                <a:latin typeface="Arial"/>
                <a:ea typeface="Arial"/>
                <a:cs typeface="Arial"/>
              </a:rPr>
              <a:t>Students and job seekers need specific feedback before a class talk, interview, research defense, or pitch.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AF43E-78CF-424F-A5FF-4565F7F8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A737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A737C"/>
                </a:solidFill>
                <a:latin typeface="Arial"/>
                <a:ea typeface="Arial"/>
                <a:cs typeface="Arial"/>
              </a:rPr>
              <a:t>Cadence points to delivery habits and gives the speaker a concrete way to practice them.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1552c692b4513"/>
          <a:srcRect xmlns:a="http://schemas.openxmlformats.org/drawingml/2006/main" l="8140" t="0" r="8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2000250"/>
            <a:ext cx="51435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80C27-2AB4-4901-9A30-26B5651C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982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98232"/>
                </a:solidFill>
                <a:latin typeface="Arial"/>
                <a:ea typeface="Arial"/>
                <a:cs typeface="Arial"/>
              </a:rPr>
              <a:t>The goal is a clearer next attempt, not a generic score.</a:t>
            </a:r>
          </a:p>
        </p:txBody>
      </p:sp>
    </p:spTree>
    <p:extLst>
      <p:ext uri="{BB962C8B-B14F-4D97-AF65-F5344CB8AC3E}">
        <p14:creationId xmlns:p14="http://schemas.microsoft.com/office/powerpoint/2010/main" val="354105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0271E-4FB7-4B69-BDE3-B04658B0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rehearsal.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useful outputs.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4C731-B444-4E58-8B58-18980C6D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Record or upload a short 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BC5E3-060E-4963-B8FB-5578EE74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Review the transcript and delivery 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CC4DE-C0B1-4305-AC93-36F8F53F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Open coaching, then try a targeted drill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C00DA-CC86-4379-B7DF-F6AA6627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982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8232"/>
                </a:solidFill>
                <a:latin typeface="Arial"/>
                <a:ea typeface="Arial"/>
                <a:cs typeface="Arial"/>
              </a:rPr>
              <a:t>Live URL: https://cadenceproject.vercel.app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f18062b374958"/>
          <a:srcRect xmlns:a="http://schemas.openxmlformats.org/drawingml/2006/main" l="8333" t="0" r="8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4375" y="1428750"/>
            <a:ext cx="28575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D8A8D-7D72-4BE4-871C-9C805657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DD1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DD1D5"/>
                </a:solidFill>
                <a:latin typeface="Arial"/>
                <a:ea typeface="Arial"/>
                <a:cs typeface="Arial"/>
              </a:rPr>
              <a:t>Transcript  •  Metrics  •  Practice plan</a:t>
            </a:r>
          </a:p>
        </p:txBody>
      </p:sp>
    </p:spTree>
    <p:extLst>
      <p:ext uri="{BB962C8B-B14F-4D97-AF65-F5344CB8AC3E}">
        <p14:creationId xmlns:p14="http://schemas.microsoft.com/office/powerpoint/2010/main" val="19452803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B230C-AF34-4046-AAAD-8C20B45D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Live app: rehearsal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58C21-99CA-465E-B2BD-53441ACD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0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7B"/>
                </a:solidFill>
                <a:latin typeface="Arial"/>
                <a:ea typeface="Arial"/>
                <a:cs typeface="Arial"/>
              </a:rPr>
              <a:t>Current production UI · cadenceproject.vercel.app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1051f7791400d"/>
          <a:stretch xmlns:a="http://schemas.openxmlformats.org/drawingml/2006/main"/>
        </p:blipFill>
        <p:spPr>
          <a:xfrm xmlns:a="http://schemas.openxmlformats.org/drawingml/2006/main">
            <a:off x="1733550" y="1181100"/>
            <a:ext cx="8382000" cy="523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53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16A29-715C-4613-A450-8B231A6D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Live app: sample transcript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A97FF-1196-45CA-AD00-F648C031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4B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4B00"/>
                </a:solidFill>
                <a:latin typeface="Arial"/>
                <a:ea typeface="Arial"/>
                <a:cs typeface="Arial"/>
              </a:rPr>
              <a:t>Clearly labeled sample session · not a microphone recording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f96cb652c47ad"/>
          <a:stretch xmlns:a="http://schemas.openxmlformats.org/drawingml/2006/main"/>
        </p:blipFill>
        <p:spPr>
          <a:xfrm xmlns:a="http://schemas.openxmlformats.org/drawingml/2006/main">
            <a:off x="1733550" y="1181100"/>
            <a:ext cx="8382000" cy="523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360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9F700-0897-41F6-9CFE-603A8540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Two flows for a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31061-7325-4E97-94E1-C3280016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07B"/>
                </a:solidFill>
                <a:latin typeface="Arial"/>
                <a:ea typeface="Arial"/>
                <a:cs typeface="Arial"/>
              </a:rPr>
              <a:t>Open the deployed app and drive it live; no video replacement.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A88BB-593C-4BA2-A6A8-ACBB3B63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76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76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D1425-5403-4814-B50C-6A542CCC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REHEARSE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C473E-22CE-4E40-B302-737326F4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9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92E"/>
                </a:solidFill>
                <a:latin typeface="Arial"/>
                <a:ea typeface="Arial"/>
                <a:cs typeface="Arial"/>
              </a:rPr>
              <a:t>Record a short answer. Show the verbatim transcript, filler highlights, pace, and delivery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38842-2815-4D38-AB90-56CE0EB6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76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76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B17F0-81DF-4191-B23E-94136DE4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PRACTICE AGAIN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60146-0531-4F84-B134-2145DF82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9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92E"/>
                </a:solidFill>
                <a:latin typeface="Arial"/>
                <a:ea typeface="Arial"/>
                <a:cs typeface="Arial"/>
              </a:rPr>
              <a:t>Open a coaching tip or targeted drill, then show the saved rehearsal in Session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98CDA-B722-4BF3-8448-CB749F92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A4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4B00"/>
                </a:solidFill>
                <a:latin typeface="Arial"/>
                <a:ea typeface="Arial"/>
                <a:cs typeface="Arial"/>
              </a:rPr>
              <a:t>If Gemini is temporarily unavailable, use Sample Speeches and explain that live analysis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1344205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5084-24F6-4ED6-866A-FEA6B9C8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7"/>
                </a:solidFill>
                <a:latin typeface="Arial"/>
                <a:ea typeface="Arial"/>
                <a:cs typeface="Arial"/>
              </a:rPr>
              <a:t>A small full-stack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8A408-0FB1-4510-89A5-7D45C82A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982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98232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17887-684A-460D-8878-024F4B17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93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9313A"/>
                </a:solidFill>
                <a:latin typeface="Arial"/>
                <a:ea typeface="Arial"/>
                <a:cs typeface="Arial"/>
              </a:rPr>
              <a:t>Record, upload, and review the session.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75973-1FEF-4493-85C7-A735095B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6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6A737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A737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749B9-1C21-4AC3-9A10-AECDE656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982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98232"/>
                </a:solidFill>
                <a:latin typeface="Arial"/>
                <a:ea typeface="Arial"/>
                <a:cs typeface="Arial"/>
              </a:rPr>
              <a:t>EXPRESS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07964-E181-4987-87D3-BD5868D3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574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93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9313A"/>
                </a:solidFill>
                <a:latin typeface="Arial"/>
                <a:ea typeface="Arial"/>
                <a:cs typeface="Arial"/>
              </a:rPr>
              <a:t>Validate requests and keep service keys on the server.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127B0-71A2-4AC9-81A2-AF446583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383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6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6A737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A737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BC573-D8E1-4A52-B5C7-62502BD9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982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98232"/>
                </a:solidFill>
                <a:latin typeface="Arial"/>
                <a:ea typeface="Arial"/>
                <a:cs typeface="Arial"/>
              </a:rPr>
              <a:t>GEMINI + SUPABASE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A97D4-F78F-40C1-B38E-CC96F91A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93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9313A"/>
                </a:solidFill>
                <a:latin typeface="Arial"/>
                <a:ea typeface="Arial"/>
                <a:cs typeface="Arial"/>
              </a:rPr>
              <a:t>Gemini returns coaching; Supabase stores session analysis.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0A224-9CBD-46B5-8B02-F1318BFF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A73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A737C"/>
                </a:solidFill>
                <a:latin typeface="Arial"/>
                <a:ea typeface="Arial"/>
                <a:cs typeface="Arial"/>
              </a:rPr>
              <a:t>React  •  TypeScript  •  Vite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F7422-FB7B-41EA-BC2D-2572DDB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291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A73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A737C"/>
                </a:solidFill>
                <a:latin typeface="Arial"/>
                <a:ea typeface="Arial"/>
                <a:cs typeface="Arial"/>
              </a:rPr>
              <a:t>Node.js  •  Express  •  Supabase Postgres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4E994-A31B-48FA-87AD-BA0CDCF0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7"/>
                </a:solidFill>
                <a:latin typeface="Arial"/>
                <a:ea typeface="Arial"/>
                <a:cs typeface="Arial"/>
              </a:rPr>
              <a:t>Session analyses persist as JSONB. Audio is sent to Gemini and is not saved in the session table.</a:t>
            </a:r>
          </a:p>
        </p:txBody>
      </p:sp>
    </p:spTree>
    <p:extLst>
      <p:ext uri="{BB962C8B-B14F-4D97-AF65-F5344CB8AC3E}">
        <p14:creationId xmlns:p14="http://schemas.microsoft.com/office/powerpoint/2010/main" val="11087347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1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4A12B-C74F-4228-812B-9E467F8E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API behind the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0DA53-5DB6-4221-AEFA-91651250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9CDD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CDD1"/>
                </a:solidFill>
                <a:latin typeface="Arial"/>
                <a:ea typeface="Arial"/>
                <a:cs typeface="Arial"/>
              </a:rPr>
              <a:t>Five routes connect the browser, Gemini, and saved sessions.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EE2BC-F720-43E1-8B42-8ED41381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76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762A"/>
                </a:solidFill>
                <a:latin typeface="Arial"/>
                <a:ea typeface="Arial"/>
                <a:cs typeface="Arial"/>
              </a:rPr>
              <a:t>POST  /api/analyze-speech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70F4E-90EB-480D-BB35-F944FE07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F2F2"/>
                </a:solidFill>
                <a:latin typeface="Arial"/>
                <a:ea typeface="Arial"/>
                <a:cs typeface="Arial"/>
              </a:rPr>
              <a:t>Transcription, delivery metrics, and coaching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0396C-E5B0-416D-9F75-05EE155E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76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762A"/>
                </a:solidFill>
                <a:latin typeface="Arial"/>
                <a:ea typeface="Arial"/>
                <a:cs typeface="Arial"/>
              </a:rPr>
              <a:t>POST  /api/analyze-drill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4E379-783E-4E03-90E1-103F8E92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F2F2"/>
                </a:solidFill>
                <a:latin typeface="Arial"/>
                <a:ea typeface="Arial"/>
                <a:cs typeface="Arial"/>
              </a:rPr>
              <a:t>Feedback on a targeted speaking drill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D254D-08CC-4139-8755-93CC54F3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76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762A"/>
                </a:solidFill>
                <a:latin typeface="Arial"/>
                <a:ea typeface="Arial"/>
                <a:cs typeface="Arial"/>
              </a:rPr>
              <a:t>POST  /api/coach-voice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6E816-5A52-4FBB-A2AE-0E7A2B7C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28975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F2F2"/>
                </a:solidFill>
                <a:latin typeface="Arial"/>
                <a:ea typeface="Arial"/>
                <a:cs typeface="Arial"/>
              </a:rPr>
              <a:t>Spoken coaching audio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8C6EA-3A92-4E1A-A70B-9232BB04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76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762A"/>
                </a:solidFill>
                <a:latin typeface="Arial"/>
                <a:ea typeface="Arial"/>
                <a:cs typeface="Arial"/>
              </a:rPr>
              <a:t>GET / POST  /api/sessions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6EA46-7423-4C72-ADDD-9121E1A4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F2F2"/>
                </a:solidFill>
                <a:latin typeface="Arial"/>
                <a:ea typeface="Arial"/>
                <a:cs typeface="Arial"/>
              </a:rPr>
              <a:t>Load and save browser-profile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BC830-8C77-4627-A072-488E4EAB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76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762A"/>
                </a:solidFill>
                <a:latin typeface="Arial"/>
                <a:ea typeface="Arial"/>
                <a:cs typeface="Arial"/>
              </a:rPr>
              <a:t>DELETE  /api/sessions/:sessionId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9E7B2-36DC-425C-9C8D-2B655959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05325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F2F2"/>
                </a:solidFill>
                <a:latin typeface="Arial"/>
                <a:ea typeface="Arial"/>
                <a:cs typeface="Arial"/>
              </a:rPr>
              <a:t>Remove one saved rehearsal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EC7D2-0686-4620-A116-FDF3C8E7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DD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CDD1"/>
                </a:solidFill>
                <a:latin typeface="Arial"/>
                <a:ea typeface="Arial"/>
                <a:cs typeface="Arial"/>
              </a:rPr>
              <a:t>Supabase stores analysis as JSONB; audio is sent to Gemini, not stored in the session table.</a:t>
            </a:r>
          </a:p>
        </p:txBody>
      </p:sp>
    </p:spTree>
    <p:extLst>
      <p:ext uri="{BB962C8B-B14F-4D97-AF65-F5344CB8AC3E}">
        <p14:creationId xmlns:p14="http://schemas.microsoft.com/office/powerpoint/2010/main" val="949299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4E578-08BA-467F-98E7-7FDF7301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What failed, and what we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BE8BE-C9D3-4EB2-B1DC-4D26F2C0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76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762A"/>
                </a:solidFill>
                <a:latin typeface="Arial"/>
                <a:ea typeface="Arial"/>
                <a:cs typeface="Arial"/>
              </a:rPr>
              <a:t>GEMINI AVAILABILITY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D11AC-A7E6-423A-A30C-777F04D3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Model outages return a retry message. The demo can fall back to Sample Speeches.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F449F-AF04-4572-85B8-14D15FDC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76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762A"/>
                </a:solidFill>
                <a:latin typeface="Arial"/>
                <a:ea typeface="Arial"/>
                <a:cs typeface="Arial"/>
              </a:rPr>
              <a:t>RECORDING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3FC8D-4BAB-4D79-9ECF-F2217DCE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33625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Analysis stays disabled until audio is prepared. Generic placeholder transcripts are rejected.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82F07-5B81-43E8-AEDC-99398744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76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762A"/>
                </a:solidFill>
                <a:latin typeface="Arial"/>
                <a:ea typeface="Arial"/>
                <a:cs typeface="Arial"/>
              </a:rPr>
              <a:t>HISTORY DELETE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C4274-7348-46A0-B0FF-9747F5DF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33625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The UI removes a saved rehearsal only after the server confirms deletion.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5EB09-1EFA-4EA4-A30F-D5EEF576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Keys stay on the server. A live microphone and phone check is still required.</a:t>
            </a:r>
          </a:p>
        </p:txBody>
      </p:sp>
    </p:spTree>
    <p:extLst>
      <p:ext uri="{BB962C8B-B14F-4D97-AF65-F5344CB8AC3E}">
        <p14:creationId xmlns:p14="http://schemas.microsoft.com/office/powerpoint/2010/main" val="19288271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62437-3D98-4306-ABA6-9FB8D219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695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Lessons learned</a:t>
            </a:r>
          </a:p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38FA7-B066-4D53-876C-D9353DDA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01  Lesson: keep API keys on the server.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75DFC-B252-4C3A-BD6B-80EE8B22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02  Challenge: Gemini availability can interrupt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B2F94-1F9B-4968-86E7-916BFE90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03  Next: test on phones and add account sign-in.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696BE-A304-422E-9942-25134810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9CD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CDD1"/>
                </a:solidFill>
                <a:latin typeface="Arial"/>
                <a:ea typeface="Arial"/>
                <a:cs typeface="Arial"/>
              </a:rPr>
              <a:t>Build and TypeScript checks pass; one live recording and phone test remain.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35371-3539-4AE6-A7E3-4400D818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982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98232"/>
                </a:solidFill>
                <a:latin typeface="Arial"/>
                <a:ea typeface="Arial"/>
                <a:cs typeface="Arial"/>
              </a:rPr>
              <a:t>Live demo: https://cadenceproject.vercel.app</a:t>
            </a:r>
          </a:p>
        </p:txBody>
      </p:sp>
    </p:spTree>
    <p:extLst>
      <p:ext uri="{BB962C8B-B14F-4D97-AF65-F5344CB8AC3E}">
        <p14:creationId xmlns:p14="http://schemas.microsoft.com/office/powerpoint/2010/main" val="1960377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2026-10-07T18:14:34.8970000Z</dcterms:created>
  <dcterms:modified xsi:type="dcterms:W3CDTF">2026-10-07T18:14:34.8980000Z</dcterms:modified>
</coreProperties>
</file>